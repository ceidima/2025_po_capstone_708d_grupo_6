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ES" dirty="0"/>
            <a:t>Yerko Gómez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ES" dirty="0"/>
            <a:t>Líder Técnico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 dirty="0"/>
            <a:t>Nicolás Dendal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MX" dirty="0"/>
            <a:t>Desarrollo </a:t>
          </a:r>
          <a:r>
            <a:rPr lang="es-MX" dirty="0" err="1"/>
            <a:t>Frontend</a:t>
          </a:r>
          <a:r>
            <a:rPr lang="es-MX" dirty="0"/>
            <a:t> e infraestructura</a:t>
          </a:r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ES" dirty="0"/>
            <a:t>Administrador de base de datos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MX" dirty="0"/>
            <a:t>Armado conexión a base de datos</a:t>
          </a:r>
          <a:endParaRPr lang="es-CL" dirty="0"/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2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2"/>
      <dgm:spPr/>
    </dgm:pt>
    <dgm:pt modelId="{52D125D2-FCA7-4A2D-AB39-B6BD54F251F2}" type="pres">
      <dgm:prSet presAssocID="{78BFB295-8F5D-4286-B72B-79142F8F0E13}" presName="text" presStyleLbl="node1" presStyleIdx="0" presStyleCnt="2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2" custLinFactNeighborX="-50864" custLinFactNeighborY="1915"/>
      <dgm:spPr/>
    </dgm:pt>
    <dgm:pt modelId="{3F97C059-D720-4D48-953F-B84D04D0BF79}" type="pres">
      <dgm:prSet presAssocID="{02A34BC0-F8BA-4A89-87A4-4F20079DFD06}" presName="img" presStyleLbl="fgImgPlace1" presStyleIdx="1" presStyleCnt="2"/>
      <dgm:spPr/>
    </dgm:pt>
    <dgm:pt modelId="{CFFDF23F-D296-4CDF-8EE4-8A672559E207}" type="pres">
      <dgm:prSet presAssocID="{02A34BC0-F8BA-4A89-87A4-4F20079DFD06}" presName="text" presStyleLbl="node1" presStyleIdx="1" presStyleCnt="2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500" kern="1200" dirty="0"/>
            <a:t>Yerko Gómez</a:t>
          </a:r>
          <a:endParaRPr lang="es-CL" sz="35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700" kern="1200" dirty="0"/>
            <a:t>Líder Técnico</a:t>
          </a:r>
          <a:endParaRPr lang="es-CL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700" kern="1200" dirty="0"/>
            <a:t>Desarrollo </a:t>
          </a:r>
          <a:r>
            <a:rPr lang="es-MX" sz="2700" kern="1200" dirty="0" err="1"/>
            <a:t>Frontend</a:t>
          </a:r>
          <a:r>
            <a:rPr lang="es-MX" sz="2700" kern="1200" dirty="0"/>
            <a:t> e infraestructura</a:t>
          </a:r>
          <a:endParaRPr lang="es-CL" sz="2700" kern="1200" dirty="0"/>
        </a:p>
      </dsp:txBody>
      <dsp:txXfrm>
        <a:off x="1733817" y="0"/>
        <a:ext cx="5899676" cy="2071186"/>
      </dsp:txXfrm>
    </dsp:sp>
    <dsp:sp modelId="{9A7E2690-DE9C-4572-9BE5-B8C9A3B8BBB3}">
      <dsp:nvSpPr>
        <dsp:cNvPr id="0" name=""/>
        <dsp:cNvSpPr/>
      </dsp:nvSpPr>
      <dsp:spPr>
        <a:xfrm>
          <a:off x="207118" y="207118"/>
          <a:ext cx="1526698" cy="1656949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2279367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Nicolás Dendal</a:t>
          </a:r>
          <a:endParaRPr lang="es-CL" sz="35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700" kern="1200" dirty="0"/>
            <a:t>Administrador de base de datos</a:t>
          </a:r>
          <a:endParaRPr lang="es-CL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700" kern="1200" dirty="0"/>
            <a:t>Armado conexión a base de datos</a:t>
          </a:r>
          <a:endParaRPr lang="es-CL" sz="2700" kern="1200" dirty="0"/>
        </a:p>
      </dsp:txBody>
      <dsp:txXfrm>
        <a:off x="1733817" y="2279367"/>
        <a:ext cx="5899676" cy="2071186"/>
      </dsp:txXfrm>
    </dsp:sp>
    <dsp:sp modelId="{3F97C059-D720-4D48-953F-B84D04D0BF79}">
      <dsp:nvSpPr>
        <dsp:cNvPr id="0" name=""/>
        <dsp:cNvSpPr/>
      </dsp:nvSpPr>
      <dsp:spPr>
        <a:xfrm>
          <a:off x="207118" y="2485423"/>
          <a:ext cx="1526698" cy="1656949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20-11-2025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20-11-2025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20-11-2025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20-11-2025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20-11-2025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20-11-2025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20-11-2025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20-11-2025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20-11-2025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20-11-2025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20-11-2025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20-11-2025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“Hayashi Ha Online”</a:t>
            </a:r>
          </a:p>
          <a:p>
            <a:pPr algn="ctr"/>
            <a:r>
              <a:rPr lang="es-MX" sz="2400" dirty="0"/>
              <a:t>PRESENTACIÓN FINAL CAPSTONE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412568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/>
              <a:t>Hayashi Ha Online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/>
              <a:t>Hayashi Ha Online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marL="342900" indent="-342900" algn="just">
              <a:buFont typeface="+mj-lt"/>
              <a:buAutoNum type="arabicPeriod"/>
            </a:pPr>
            <a:r>
              <a:rPr lang="es-ES" dirty="0"/>
              <a:t>La escuela gestionaba alumnos, matrículas y pagos de forma manual.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dirty="0"/>
              <a:t>Existían errores frecuentes en la información financiera.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dirty="0"/>
              <a:t>Las notificaciones a apoderados se realizaban tarde o no se hacían.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dirty="0"/>
              <a:t>No había un registro centralizado actualizado.</a:t>
            </a:r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marL="342900" lvl="0" indent="-342900" algn="just">
              <a:buFont typeface="+mj-lt"/>
              <a:buAutoNum type="arabicPeriod"/>
            </a:pPr>
            <a:r>
              <a:rPr lang="es-ES" dirty="0"/>
              <a:t>Desarrollar una plataforma web que centralice toda la información.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s-ES" dirty="0"/>
              <a:t>Automatizar pagos, matrículas y control de morosidad.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s-ES" dirty="0"/>
              <a:t>Implementar un sistema de notificaciones automáticas por correo.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s-ES" dirty="0"/>
              <a:t>Crear reportes para facilitar el trabajo administrativo.</a:t>
            </a:r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/>
              <a:t>Hayashi Ha Online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Desarrollar un sistema web que optimice la gestión administrativa, financiera y comunicacional de la escuela Hayashi Ha Online.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Diseñar una base de datos escalable para alumnos, pagos y matrículas.</a:t>
            </a:r>
          </a:p>
          <a:p>
            <a:pPr algn="ctr"/>
            <a:r>
              <a:rPr lang="es-ES" dirty="0"/>
              <a:t>Implementar registro y autenticación con roles.</a:t>
            </a:r>
          </a:p>
          <a:p>
            <a:pPr algn="ctr"/>
            <a:r>
              <a:rPr lang="es-ES" dirty="0"/>
              <a:t>Desarrollar los módulos de pagos, matrículas y reportes.</a:t>
            </a:r>
          </a:p>
          <a:p>
            <a:pPr algn="ctr"/>
            <a:r>
              <a:rPr lang="es-ES" dirty="0"/>
              <a:t>Incorporar notificaciones automáticas mediante </a:t>
            </a:r>
            <a:r>
              <a:rPr lang="es-ES" dirty="0" err="1"/>
              <a:t>PHPMailer</a:t>
            </a:r>
            <a:r>
              <a:rPr lang="es-ES" dirty="0"/>
              <a:t>.</a:t>
            </a:r>
          </a:p>
          <a:p>
            <a:pPr algn="ctr"/>
            <a:r>
              <a:rPr lang="es-ES" dirty="0"/>
              <a:t>Realizar pruebas funcionales y de integración.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/>
              <a:t>Hayashi Ha Online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C5DFBC56-7512-BC3A-5E84-F996EE3BC859}"/>
              </a:ext>
            </a:extLst>
          </p:cNvPr>
          <p:cNvSpPr txBox="1"/>
          <p:nvPr/>
        </p:nvSpPr>
        <p:spPr>
          <a:xfrm>
            <a:off x="513184" y="2211356"/>
            <a:ext cx="110101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Alcances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Sistema funcional con autenticación y roles.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Gestión completa de alumnos, apoderados y administradores.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Módulo de pagos y control de morosidad.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Notificaciones automáticas por correo.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Reportes administrativos.</a:t>
            </a:r>
          </a:p>
          <a:p>
            <a:r>
              <a:rPr lang="es-ES" b="1" dirty="0"/>
              <a:t>Limitaciones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El sistema funciona en entorno local (XAMPP) durante esta fase.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Impedimentos para desarrollar otros métodos de pago.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Incapacidad de pruebas de rendimiento de carga.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/>
              <a:t>Hayashi Ha Online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74F3BCF-EEFE-4FD6-CCF7-7FD4D7FCA22B}"/>
              </a:ext>
            </a:extLst>
          </p:cNvPr>
          <p:cNvSpPr txBox="1"/>
          <p:nvPr/>
        </p:nvSpPr>
        <p:spPr>
          <a:xfrm>
            <a:off x="634482" y="2453951"/>
            <a:ext cx="108888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Metodología: Scrum</a:t>
            </a:r>
            <a:endParaRPr lang="es-ES" dirty="0"/>
          </a:p>
          <a:p>
            <a:r>
              <a:rPr lang="es-ES" dirty="0"/>
              <a:t>Trabajo organizado en </a:t>
            </a:r>
            <a:r>
              <a:rPr lang="es-ES" i="1" dirty="0"/>
              <a:t>sprints semanales</a:t>
            </a:r>
            <a:r>
              <a:rPr lang="es-ES" dirty="0"/>
              <a:t>.</a:t>
            </a:r>
          </a:p>
          <a:p>
            <a:r>
              <a:rPr lang="es-ES" dirty="0"/>
              <a:t>Reuniones breves de seguimiento por cada avance.</a:t>
            </a:r>
          </a:p>
          <a:p>
            <a:r>
              <a:rPr lang="es-ES" dirty="0"/>
              <a:t>Retroalimentación constante del docente guía.</a:t>
            </a:r>
          </a:p>
          <a:p>
            <a:r>
              <a:rPr lang="es-ES" dirty="0"/>
              <a:t>Priorización mediante backlog y tablero de tareas.</a:t>
            </a:r>
          </a:p>
          <a:p>
            <a:r>
              <a:rPr lang="es-ES" dirty="0"/>
              <a:t>Entregables incrementales: BD → </a:t>
            </a:r>
            <a:r>
              <a:rPr lang="es-ES" dirty="0" err="1"/>
              <a:t>Backend</a:t>
            </a:r>
            <a:r>
              <a:rPr lang="es-ES" dirty="0"/>
              <a:t> → </a:t>
            </a:r>
            <a:r>
              <a:rPr lang="es-ES" dirty="0" err="1"/>
              <a:t>Frontend</a:t>
            </a:r>
            <a:r>
              <a:rPr lang="es-ES" dirty="0"/>
              <a:t> → Pruebas → Notificaciones → Documentación.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/>
              <a:t>Hayashi Ha Online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2180AE7-37D5-CDC3-F761-0B77086C0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034859"/>
              </p:ext>
            </p:extLst>
          </p:nvPr>
        </p:nvGraphicFramePr>
        <p:xfrm>
          <a:off x="662473" y="1801792"/>
          <a:ext cx="10991462" cy="4848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0650">
                  <a:extLst>
                    <a:ext uri="{9D8B030D-6E8A-4147-A177-3AD203B41FA5}">
                      <a16:colId xmlns:a16="http://schemas.microsoft.com/office/drawing/2014/main" val="3943042587"/>
                    </a:ext>
                  </a:extLst>
                </a:gridCol>
                <a:gridCol w="463393">
                  <a:extLst>
                    <a:ext uri="{9D8B030D-6E8A-4147-A177-3AD203B41FA5}">
                      <a16:colId xmlns:a16="http://schemas.microsoft.com/office/drawing/2014/main" val="2774714398"/>
                    </a:ext>
                  </a:extLst>
                </a:gridCol>
                <a:gridCol w="463393">
                  <a:extLst>
                    <a:ext uri="{9D8B030D-6E8A-4147-A177-3AD203B41FA5}">
                      <a16:colId xmlns:a16="http://schemas.microsoft.com/office/drawing/2014/main" val="2464336833"/>
                    </a:ext>
                  </a:extLst>
                </a:gridCol>
                <a:gridCol w="462566">
                  <a:extLst>
                    <a:ext uri="{9D8B030D-6E8A-4147-A177-3AD203B41FA5}">
                      <a16:colId xmlns:a16="http://schemas.microsoft.com/office/drawing/2014/main" val="2126999416"/>
                    </a:ext>
                  </a:extLst>
                </a:gridCol>
                <a:gridCol w="574077">
                  <a:extLst>
                    <a:ext uri="{9D8B030D-6E8A-4147-A177-3AD203B41FA5}">
                      <a16:colId xmlns:a16="http://schemas.microsoft.com/office/drawing/2014/main" val="1404154592"/>
                    </a:ext>
                  </a:extLst>
                </a:gridCol>
                <a:gridCol w="574077">
                  <a:extLst>
                    <a:ext uri="{9D8B030D-6E8A-4147-A177-3AD203B41FA5}">
                      <a16:colId xmlns:a16="http://schemas.microsoft.com/office/drawing/2014/main" val="2603523428"/>
                    </a:ext>
                  </a:extLst>
                </a:gridCol>
                <a:gridCol w="462566">
                  <a:extLst>
                    <a:ext uri="{9D8B030D-6E8A-4147-A177-3AD203B41FA5}">
                      <a16:colId xmlns:a16="http://schemas.microsoft.com/office/drawing/2014/main" val="3799237989"/>
                    </a:ext>
                  </a:extLst>
                </a:gridCol>
                <a:gridCol w="462566">
                  <a:extLst>
                    <a:ext uri="{9D8B030D-6E8A-4147-A177-3AD203B41FA5}">
                      <a16:colId xmlns:a16="http://schemas.microsoft.com/office/drawing/2014/main" val="1431829503"/>
                    </a:ext>
                  </a:extLst>
                </a:gridCol>
                <a:gridCol w="463393">
                  <a:extLst>
                    <a:ext uri="{9D8B030D-6E8A-4147-A177-3AD203B41FA5}">
                      <a16:colId xmlns:a16="http://schemas.microsoft.com/office/drawing/2014/main" val="3512078664"/>
                    </a:ext>
                  </a:extLst>
                </a:gridCol>
                <a:gridCol w="574903">
                  <a:extLst>
                    <a:ext uri="{9D8B030D-6E8A-4147-A177-3AD203B41FA5}">
                      <a16:colId xmlns:a16="http://schemas.microsoft.com/office/drawing/2014/main" val="742969320"/>
                    </a:ext>
                  </a:extLst>
                </a:gridCol>
                <a:gridCol w="574903">
                  <a:extLst>
                    <a:ext uri="{9D8B030D-6E8A-4147-A177-3AD203B41FA5}">
                      <a16:colId xmlns:a16="http://schemas.microsoft.com/office/drawing/2014/main" val="3381104266"/>
                    </a:ext>
                  </a:extLst>
                </a:gridCol>
                <a:gridCol w="526995">
                  <a:extLst>
                    <a:ext uri="{9D8B030D-6E8A-4147-A177-3AD203B41FA5}">
                      <a16:colId xmlns:a16="http://schemas.microsoft.com/office/drawing/2014/main" val="532561444"/>
                    </a:ext>
                  </a:extLst>
                </a:gridCol>
                <a:gridCol w="585642">
                  <a:extLst>
                    <a:ext uri="{9D8B030D-6E8A-4147-A177-3AD203B41FA5}">
                      <a16:colId xmlns:a16="http://schemas.microsoft.com/office/drawing/2014/main" val="363847728"/>
                    </a:ext>
                  </a:extLst>
                </a:gridCol>
                <a:gridCol w="585642">
                  <a:extLst>
                    <a:ext uri="{9D8B030D-6E8A-4147-A177-3AD203B41FA5}">
                      <a16:colId xmlns:a16="http://schemas.microsoft.com/office/drawing/2014/main" val="3126328957"/>
                    </a:ext>
                  </a:extLst>
                </a:gridCol>
                <a:gridCol w="584815">
                  <a:extLst>
                    <a:ext uri="{9D8B030D-6E8A-4147-A177-3AD203B41FA5}">
                      <a16:colId xmlns:a16="http://schemas.microsoft.com/office/drawing/2014/main" val="3016247882"/>
                    </a:ext>
                  </a:extLst>
                </a:gridCol>
                <a:gridCol w="584815">
                  <a:extLst>
                    <a:ext uri="{9D8B030D-6E8A-4147-A177-3AD203B41FA5}">
                      <a16:colId xmlns:a16="http://schemas.microsoft.com/office/drawing/2014/main" val="1646662709"/>
                    </a:ext>
                  </a:extLst>
                </a:gridCol>
                <a:gridCol w="550950">
                  <a:extLst>
                    <a:ext uri="{9D8B030D-6E8A-4147-A177-3AD203B41FA5}">
                      <a16:colId xmlns:a16="http://schemas.microsoft.com/office/drawing/2014/main" val="1728682965"/>
                    </a:ext>
                  </a:extLst>
                </a:gridCol>
                <a:gridCol w="313058">
                  <a:extLst>
                    <a:ext uri="{9D8B030D-6E8A-4147-A177-3AD203B41FA5}">
                      <a16:colId xmlns:a16="http://schemas.microsoft.com/office/drawing/2014/main" val="2317569786"/>
                    </a:ext>
                  </a:extLst>
                </a:gridCol>
                <a:gridCol w="313058">
                  <a:extLst>
                    <a:ext uri="{9D8B030D-6E8A-4147-A177-3AD203B41FA5}">
                      <a16:colId xmlns:a16="http://schemas.microsoft.com/office/drawing/2014/main" val="2444570952"/>
                    </a:ext>
                  </a:extLst>
                </a:gridCol>
              </a:tblGrid>
              <a:tr h="196716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Actividad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Fase 1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Fase 2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Fase 3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585606"/>
                  </a:ext>
                </a:extLst>
              </a:tr>
              <a:tr h="55823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S 1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S 2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S 3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S 4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S 5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S 6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S 7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S 8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S 9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S 10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S 11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S 12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S 13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S 14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S 15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S 16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L" sz="10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 dirty="0">
                          <a:effectLst/>
                        </a:rPr>
                        <a:t>S 18</a:t>
                      </a:r>
                      <a:endParaRPr lang="es-C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extLst>
                  <a:ext uri="{0D108BD9-81ED-4DB2-BD59-A6C34878D82A}">
                    <a16:rowId xmlns:a16="http://schemas.microsoft.com/office/drawing/2014/main" val="2906290975"/>
                  </a:ext>
                </a:extLst>
              </a:tr>
              <a:tr h="5025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effectLst/>
                        </a:rPr>
                        <a:t>Levantamiento inicial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YG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YG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extLst>
                  <a:ext uri="{0D108BD9-81ED-4DB2-BD59-A6C34878D82A}">
                    <a16:rowId xmlns:a16="http://schemas.microsoft.com/office/drawing/2014/main" val="1611172778"/>
                  </a:ext>
                </a:extLst>
              </a:tr>
              <a:tr h="23759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effectLst/>
                        </a:rPr>
                        <a:t>Diseño de BD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ND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ND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extLst>
                  <a:ext uri="{0D108BD9-81ED-4DB2-BD59-A6C34878D82A}">
                    <a16:rowId xmlns:a16="http://schemas.microsoft.com/office/drawing/2014/main" val="1101823936"/>
                  </a:ext>
                </a:extLst>
              </a:tr>
              <a:tr h="23759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effectLst/>
                        </a:rPr>
                        <a:t>Backend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YG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YG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YG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YG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extLst>
                  <a:ext uri="{0D108BD9-81ED-4DB2-BD59-A6C34878D82A}">
                    <a16:rowId xmlns:a16="http://schemas.microsoft.com/office/drawing/2014/main" val="1882810981"/>
                  </a:ext>
                </a:extLst>
              </a:tr>
              <a:tr h="23759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effectLst/>
                        </a:rPr>
                        <a:t>Frontend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YG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YG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YG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extLst>
                  <a:ext uri="{0D108BD9-81ED-4DB2-BD59-A6C34878D82A}">
                    <a16:rowId xmlns:a16="http://schemas.microsoft.com/office/drawing/2014/main" val="2378643437"/>
                  </a:ext>
                </a:extLst>
              </a:tr>
              <a:tr h="5025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effectLst/>
                        </a:rPr>
                        <a:t>Informes y reportes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ND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ND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extLst>
                  <a:ext uri="{0D108BD9-81ED-4DB2-BD59-A6C34878D82A}">
                    <a16:rowId xmlns:a16="http://schemas.microsoft.com/office/drawing/2014/main" val="1586291630"/>
                  </a:ext>
                </a:extLst>
              </a:tr>
              <a:tr h="5025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effectLst/>
                        </a:rPr>
                        <a:t>Módulo de alertas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ND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ND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extLst>
                  <a:ext uri="{0D108BD9-81ED-4DB2-BD59-A6C34878D82A}">
                    <a16:rowId xmlns:a16="http://schemas.microsoft.com/office/drawing/2014/main" val="1949706220"/>
                  </a:ext>
                </a:extLst>
              </a:tr>
              <a:tr h="5025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effectLst/>
                        </a:rPr>
                        <a:t>Pruebas y validación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ND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ND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extLst>
                  <a:ext uri="{0D108BD9-81ED-4DB2-BD59-A6C34878D82A}">
                    <a16:rowId xmlns:a16="http://schemas.microsoft.com/office/drawing/2014/main" val="2087376863"/>
                  </a:ext>
                </a:extLst>
              </a:tr>
              <a:tr h="5025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effectLst/>
                        </a:rPr>
                        <a:t>validación de los sistemas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YG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YG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extLst>
                  <a:ext uri="{0D108BD9-81ED-4DB2-BD59-A6C34878D82A}">
                    <a16:rowId xmlns:a16="http://schemas.microsoft.com/office/drawing/2014/main" val="1013835166"/>
                  </a:ext>
                </a:extLst>
              </a:tr>
              <a:tr h="5025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effectLst/>
                        </a:rPr>
                        <a:t>Marcha Blanca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ND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ND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extLst>
                  <a:ext uri="{0D108BD9-81ED-4DB2-BD59-A6C34878D82A}">
                    <a16:rowId xmlns:a16="http://schemas.microsoft.com/office/drawing/2014/main" val="4140388639"/>
                  </a:ext>
                </a:extLst>
              </a:tr>
              <a:tr h="36553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000">
                          <a:effectLst/>
                        </a:rPr>
                        <a:t>Informe final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YG/ND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>
                          <a:effectLst/>
                        </a:rPr>
                        <a:t> </a:t>
                      </a:r>
                      <a:endParaRPr lang="es-C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800" dirty="0">
                          <a:effectLst/>
                        </a:rPr>
                        <a:t> </a:t>
                      </a:r>
                      <a:endParaRPr lang="es-C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851" marR="64851" marT="0" marB="0"/>
                </a:tc>
                <a:extLst>
                  <a:ext uri="{0D108BD9-81ED-4DB2-BD59-A6C34878D82A}">
                    <a16:rowId xmlns:a16="http://schemas.microsoft.com/office/drawing/2014/main" val="3079996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/>
              <a:t>Hayashi Ha Online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-105215" y="3271357"/>
            <a:ext cx="56529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  <a:p>
            <a:pPr algn="ctr"/>
            <a:endParaRPr lang="es-MX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036A480D-C7EE-0850-65AB-404952102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91038"/>
            <a:ext cx="3845737" cy="603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/>
              <a:t>Hayashi Ha Online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223AB339-71E4-B5DF-1E5A-9AB3B3E0D181}"/>
              </a:ext>
            </a:extLst>
          </p:cNvPr>
          <p:cNvSpPr txBox="1"/>
          <p:nvPr/>
        </p:nvSpPr>
        <p:spPr>
          <a:xfrm>
            <a:off x="1222310" y="2286000"/>
            <a:ext cx="95638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Incluye: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Diagrama ER con tablas principales:</a:t>
            </a:r>
            <a:br>
              <a:rPr lang="es-ES" dirty="0"/>
            </a:br>
            <a:r>
              <a:rPr lang="es-ES" dirty="0"/>
              <a:t>Usuarios, Alumnos, Apoderados, Matrículas, Pagos, Roles, Notificaciones.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Modelo normalizado.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Relaciones 1:N entre usuarios/alumnos/pagos.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Integridad referencial con claves foráneas.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</a:t>
            </a:r>
            <a:r>
              <a:rPr lang="es-MX" dirty="0"/>
              <a:t>Hayashi Ha Online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4641979" y="3105834"/>
            <a:ext cx="5178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86E178C-65DC-A617-16C9-052157A44257}"/>
              </a:ext>
            </a:extLst>
          </p:cNvPr>
          <p:cNvSpPr txBox="1"/>
          <p:nvPr/>
        </p:nvSpPr>
        <p:spPr>
          <a:xfrm>
            <a:off x="839754" y="1754154"/>
            <a:ext cx="7828384" cy="4589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Backend</a:t>
            </a:r>
          </a:p>
          <a:p>
            <a:pPr marL="342900" indent="-342900">
              <a:buFont typeface="+mj-lt"/>
              <a:buAutoNum type="arabicPeriod"/>
            </a:pPr>
            <a:r>
              <a:rPr lang="es-CL" dirty="0"/>
              <a:t>PHP 8.2</a:t>
            </a:r>
          </a:p>
          <a:p>
            <a:pPr marL="342900" indent="-342900">
              <a:buFont typeface="+mj-lt"/>
              <a:buAutoNum type="arabicPeriod"/>
            </a:pPr>
            <a:r>
              <a:rPr lang="es-CL" dirty="0"/>
              <a:t>Apache (XAMPP)</a:t>
            </a:r>
          </a:p>
          <a:p>
            <a:r>
              <a:rPr lang="es-CL" b="1" dirty="0"/>
              <a:t>Base de Datos</a:t>
            </a:r>
          </a:p>
          <a:p>
            <a:pPr marL="342900" indent="-342900">
              <a:buFont typeface="+mj-lt"/>
              <a:buAutoNum type="arabicPeriod"/>
            </a:pPr>
            <a:r>
              <a:rPr lang="es-CL" dirty="0"/>
              <a:t>MySQL</a:t>
            </a:r>
          </a:p>
          <a:p>
            <a:pPr marL="342900" indent="-342900">
              <a:buFont typeface="+mj-lt"/>
              <a:buAutoNum type="arabicPeriod"/>
            </a:pPr>
            <a:r>
              <a:rPr lang="es-CL" dirty="0"/>
              <a:t>MySQL Workbench</a:t>
            </a:r>
          </a:p>
          <a:p>
            <a:r>
              <a:rPr lang="es-CL" b="1" dirty="0"/>
              <a:t>Frontend</a:t>
            </a:r>
          </a:p>
          <a:p>
            <a:pPr marL="342900" indent="-342900">
              <a:buFont typeface="+mj-lt"/>
              <a:buAutoNum type="arabicPeriod"/>
            </a:pPr>
            <a:r>
              <a:rPr lang="es-CL" dirty="0"/>
              <a:t>HTML5</a:t>
            </a:r>
          </a:p>
          <a:p>
            <a:pPr marL="342900" indent="-342900">
              <a:buFont typeface="+mj-lt"/>
              <a:buAutoNum type="arabicPeriod"/>
            </a:pPr>
            <a:r>
              <a:rPr lang="es-CL" dirty="0"/>
              <a:t>CSS3</a:t>
            </a:r>
          </a:p>
          <a:p>
            <a:pPr marL="342900" indent="-342900">
              <a:buFont typeface="+mj-lt"/>
              <a:buAutoNum type="arabicPeriod"/>
            </a:pPr>
            <a:r>
              <a:rPr lang="es-CL" dirty="0"/>
              <a:t>Bootstrap</a:t>
            </a:r>
          </a:p>
          <a:p>
            <a:pPr marL="342900" indent="-342900">
              <a:buFont typeface="+mj-lt"/>
              <a:buAutoNum type="arabicPeriod"/>
            </a:pPr>
            <a:r>
              <a:rPr lang="es-CL" dirty="0"/>
              <a:t>JavaScript</a:t>
            </a:r>
          </a:p>
          <a:p>
            <a:r>
              <a:rPr lang="es-CL" b="1" dirty="0"/>
              <a:t>Otras tecnologías</a:t>
            </a:r>
          </a:p>
          <a:p>
            <a:pPr marL="342900" indent="-342900">
              <a:buFont typeface="+mj-lt"/>
              <a:buAutoNum type="arabicPeriod"/>
            </a:pPr>
            <a:r>
              <a:rPr lang="es-CL" dirty="0"/>
              <a:t>PHPMailer</a:t>
            </a:r>
          </a:p>
          <a:p>
            <a:pPr marL="342900" indent="-342900">
              <a:buFont typeface="+mj-lt"/>
              <a:buAutoNum type="arabicPeriod"/>
            </a:pPr>
            <a:r>
              <a:rPr lang="es-CL" dirty="0"/>
              <a:t>GitHub</a:t>
            </a:r>
          </a:p>
          <a:p>
            <a:pPr marL="342900" indent="-342900">
              <a:buFont typeface="+mj-lt"/>
              <a:buAutoNum type="arabicPeriod"/>
            </a:pPr>
            <a:r>
              <a:rPr lang="es-CL" dirty="0"/>
              <a:t>Figma (bocetos)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65955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992902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FFC58A5-2629-9AB0-5F19-849A7DE6D83E}"/>
              </a:ext>
            </a:extLst>
          </p:cNvPr>
          <p:cNvSpPr txBox="1"/>
          <p:nvPr/>
        </p:nvSpPr>
        <p:spPr>
          <a:xfrm>
            <a:off x="674913" y="2178363"/>
            <a:ext cx="108421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proyecto Hayashi Ha Online logró desarrollar una plataforma web totalmente funcional que centraliza la gestión administrativa y financiera del dojo Hayashi Ha </a:t>
            </a:r>
            <a:r>
              <a:rPr lang="es-ES" dirty="0" err="1"/>
              <a:t>Shito</a:t>
            </a:r>
            <a:r>
              <a:rPr lang="es-ES" dirty="0"/>
              <a:t> </a:t>
            </a:r>
            <a:r>
              <a:rPr lang="es-ES" dirty="0" err="1"/>
              <a:t>Ryu</a:t>
            </a:r>
            <a:r>
              <a:rPr lang="es-ES" dirty="0"/>
              <a:t> Kai. Se automatizaron procesos clave como registro de alumnos, control de matrículas y pagos, además del envío de notificaciones automáticas mediante </a:t>
            </a:r>
            <a:r>
              <a:rPr lang="es-ES" dirty="0" err="1"/>
              <a:t>PHPMailer</a:t>
            </a:r>
            <a:r>
              <a:rPr lang="es-ES" dirty="0"/>
              <a:t>.</a:t>
            </a:r>
          </a:p>
          <a:p>
            <a:r>
              <a:rPr lang="es-ES" dirty="0"/>
              <a:t>Se implementó una base de datos MySQL segura y escalable, junto con una interfaz web intuitiva construida en Bootstrap, permitiendo una navegación fluida para administradores, alumnos y apoderados. El sistema cuenta con roles diferenciados, reportes administrativos en tiempo real y mejoras significativas en la comunicación y organización interna del dojo.</a:t>
            </a:r>
          </a:p>
          <a:p>
            <a:r>
              <a:rPr lang="es-ES" dirty="0"/>
              <a:t>Además, se desarrolló documentación técnica completa y se aplicaron metodologías ágiles durante el desarrollo, fortaleciendo las competencias profesionales del equipo en áreas como </a:t>
            </a:r>
            <a:r>
              <a:rPr lang="es-ES" dirty="0" err="1"/>
              <a:t>backend</a:t>
            </a:r>
            <a:r>
              <a:rPr lang="es-ES" dirty="0"/>
              <a:t>, </a:t>
            </a:r>
            <a:r>
              <a:rPr lang="es-ES" dirty="0" err="1"/>
              <a:t>frontend</a:t>
            </a:r>
            <a:r>
              <a:rPr lang="es-ES" dirty="0"/>
              <a:t>, bases de datos, pruebas y arquitectura de software.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2784975-13B2-82BD-6625-DC3DAB08010A}"/>
              </a:ext>
            </a:extLst>
          </p:cNvPr>
          <p:cNvSpPr txBox="1"/>
          <p:nvPr/>
        </p:nvSpPr>
        <p:spPr>
          <a:xfrm>
            <a:off x="1184988" y="2612571"/>
            <a:ext cx="98344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2000" dirty="0"/>
              <a:t>Problemas de compatibilidad entre versiones de PHP.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dirty="0"/>
              <a:t>Validaciones incompletas en formularios iniciales.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dirty="0"/>
              <a:t>Dificultad en integración entre </a:t>
            </a:r>
            <a:r>
              <a:rPr lang="es-ES" sz="2000" dirty="0" err="1"/>
              <a:t>frontend</a:t>
            </a:r>
            <a:r>
              <a:rPr lang="es-ES" sz="2000" dirty="0"/>
              <a:t> y </a:t>
            </a:r>
            <a:r>
              <a:rPr lang="es-ES" sz="2000" dirty="0" err="1"/>
              <a:t>backend</a:t>
            </a:r>
            <a:r>
              <a:rPr lang="es-ES" sz="20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dirty="0"/>
              <a:t>Ajustes necesarios en el módulo de reportes.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dirty="0"/>
              <a:t>Retrasos por reestructuración de consultas SQL.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889</Words>
  <Application>Microsoft Office PowerPoint</Application>
  <PresentationFormat>Panorámica</PresentationFormat>
  <Paragraphs>304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NICOLAS ANDRES DENDAL URZUA</cp:lastModifiedBy>
  <cp:revision>5</cp:revision>
  <dcterms:created xsi:type="dcterms:W3CDTF">2023-10-28T21:12:11Z</dcterms:created>
  <dcterms:modified xsi:type="dcterms:W3CDTF">2025-11-20T13:45:05Z</dcterms:modified>
</cp:coreProperties>
</file>